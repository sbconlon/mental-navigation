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b4582bf9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b4582bf9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b4582bf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b4582bf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we mean by “mental navigation”? We mean the brain can compute over a structured internal representation when there is no sensory input guiding 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internal representation is what we call a cognitive map. It’s not just a memory of individual locations or stimuli. It’s a representation of the relationships between them (e.g. distances, order, and structure).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the brain has such a map, then it should be able to do three things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Navigate without seeing anything (solely relying on its internal map)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Generalize to new situations (leverage the structure of the internal map to understand unseen situations)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Reduce error (the internal representation should reduce error)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paper shows all three of these claims directly, the rest of the talk is about how those claims show up in behavior, neural activity, and a simple computational model.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Transition</a:t>
            </a:r>
            <a:r>
              <a:rPr lang="en"/>
              <a:t> - To make these questions precise, the first thing we need is a working notion of what we actually mean by a cognitive map.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b4582bf9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b4582bf9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Cognitive maps represent states and the relationships between them.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example, the order, distance, and structure of states.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 deeper concept than a simple stimuli-response association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Because the cognitive map builds a world model, it supports inference and generalization by applying unseen stimuli/states to its learned world model.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Critically, this can be done without sensory input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Transition</a:t>
            </a:r>
            <a:r>
              <a:rPr lang="en"/>
              <a:t> - Give this definition, the question becomes where in the brain can such a structured representation actually be implemented?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b4582bf9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b4582bf9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/>
              <a:t>entorhinal</a:t>
            </a:r>
            <a:r>
              <a:rPr lang="en"/>
              <a:t> cortex is a natural place to look for this kind of representation.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Contains grid cells and path integration which are known to solve the problem of tracking state through time and space (even without continuous sensory input)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Beyond this, EC neurons are known to encode abstract variables and relational structure, indicating the neural structures are more general than just navigation.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Taking these into consideration, the EC is a prime candidate for cognitive maps.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Transition</a:t>
            </a:r>
            <a:r>
              <a:rPr lang="en"/>
              <a:t> - To test whether the EC </a:t>
            </a:r>
            <a:r>
              <a:rPr lang="en"/>
              <a:t>supports</a:t>
            </a:r>
            <a:r>
              <a:rPr lang="en"/>
              <a:t> cognitive maps, the authors designed a controlled navigation task with a monkey interacting with a visual display.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b4582bf9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b4582bf9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(bullet 1) In the experiment, the monkey is seated in front of a screen and interacts with the task using a joystick.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(bullet 2) The joystick controls the movement of a dot along a one-dimensional line segment displayed on the screen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(bullet 3) Along this line, visual landmarks are shown at fixed positions, providing spatial structure.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(bullet 4) The joystick moves the dot at a fixed speed, so the only way to control distance is by how long the joystick is held, making this a timing-based navigation task.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(bullet 5) On each trial, the monkey’s objective is to start from one landmark and use the joystick to navigate to the other.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Transition</a:t>
            </a:r>
            <a:r>
              <a:rPr lang="en"/>
              <a:t> - With this setup, the key experimental mechanism is when visual landmarks are available and when they are removed.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b4582bf9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b4582bf9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(intro) The experiment is divided into two distinct phases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(bullet 1) Learning phase, all landmarks are visible to the monkey while it moves the dot using the joystick.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(bullet 2) This allows the monkey to learn both the relative spacing between landmarks and how joystick deflection maps onto movement on the screen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(bullet 3) Testing phase, landmarks now disappear during movement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(bullet 4) This task forces the monkey to rely on its internal cognitive map rather than visual feedback, testing whether the monkey can navigate using a cognitive map.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Transition</a:t>
            </a:r>
            <a:r>
              <a:rPr lang="en"/>
              <a:t> - With the task structure and training in place, the first question is simply how well the monkeys perform when navigating without visual feedback.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b4582bf9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b4582bf9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(bullet 1) Once trained, the monkeys were very accurate at producing the correct distances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(bullet 2) Across trials, the produced distanced scaled linearly with the actual distance between the start and target landmarks.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means the monkeys are not just hitting a timed </a:t>
            </a:r>
            <a:r>
              <a:rPr lang="en"/>
              <a:t>stereotyped</a:t>
            </a:r>
            <a:r>
              <a:rPr lang="en"/>
              <a:t> interval. They are continuously scaling their response according to the underlying structure of the task.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indicates the monkeys are navigating with an internal map rather than executing a learned motor routine.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(bullet 3) The high level of performance is stable across sessions, indicating that the animals have learned the task structure rather than relying on trial-and-error adjustments.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Transition</a:t>
            </a:r>
            <a:r>
              <a:rPr lang="en"/>
              <a:t> - Beyond accuracy on trained trials, a stronger test of the representation is whether the monkeys can generalize to new, untrained conditions.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b4582bf9b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b4582bf9b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(bullet 1) Importantly the monkeys are not trained on all possible start-target landmark pairs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(bullet 2) Only about half the possible pairs are used during training, while the rest are held out for use during the mental navigation test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(bullet 3) When tested on these novel pairs, the monkeys immediately perform well, which shows that they are not memorizing specific movements but instead using a structured internal representation of the landmark relationships.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Transition</a:t>
            </a:r>
            <a:r>
              <a:rPr lang="en"/>
              <a:t> - Having established that the behavior reflects a structured internal representation, the next step is to ask how this structure is reflected in neural activity.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b4582bf9b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b4582bf9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(bullet 1) To understand the neural basis of this behavior, the authors recorded the spiking activity from individual neurons (“single-units”) in the entorhinal cortex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(bullet 2) The analyses focus specifically on the navigation epoch, when the monkey is actively moving toward the </a:t>
            </a:r>
            <a:r>
              <a:rPr lang="en"/>
              <a:t>target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(bullet 3) Crucially, during this entire period there is no visual input, so any structure in the neural activity must be generated internally rather than driven by sensory cues.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Transition</a:t>
            </a:r>
            <a:r>
              <a:rPr lang="en"/>
              <a:t> - Analysis of the neural recordings revealed three prominent patterns of activity during the navigation epoch.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b4582bf9b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b4582bf9b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(bullet 1) </a:t>
            </a:r>
            <a:r>
              <a:rPr lang="en"/>
              <a:t>One prominent feature of the neural activity is that many neurons show firing rates that change systematically as the monkey moves toward the target.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(bullet 2) In particular, firing rates often ramp with distance and show strong encoding near the time of joystick offset, when the monkey decides to stop.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(bullet 3) This pattern is different from classical timing tasks, where information is typically carried by the slope of the ramp or a fixed threshold, rather than by distance-specific activity at the end of the movement.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Transition</a:t>
            </a:r>
            <a:r>
              <a:rPr lang="en"/>
              <a:t> - In addition to periodic activity, a second, complementary pattern in the neural responses was observed.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b4582bf9b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b4582bf9b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(bullet 1) </a:t>
            </a:r>
            <a:r>
              <a:rPr lang="en"/>
              <a:t>A second pattern observed in the entorhinal cortex is ramping activity, where firing rates increase or decrease as a function of distance traveled.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(bullet 2) Importantly, this ramping strongly encodes distance near joystick offset, when the animal decides to stop moving.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(bullet 3) This differs from classical timing tasks, where information is often carried by the slope of the ramp or by reaching a common threshold, rather than by distance-specific activity at the end of the movement.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Transition</a:t>
            </a:r>
            <a:r>
              <a:rPr lang="en"/>
              <a:t> - Beyond mean firing patterns, how trial-to-trial variability changes during navigation was also examined.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b4582bf9b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b4582bf9b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(intro) </a:t>
            </a:r>
            <a:r>
              <a:rPr lang="en"/>
              <a:t>The third pattern concerns variability rather than mean firing rates.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(bullet 1) Trial-to-trial variability in neural activity is not uniform over time, but instead shows systematic structure during navigation.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(bullet 2) In particular, variability is reduced near the internal landmark positions, which suggests an error-correcting mechanism.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(bullet 3) This reduction in neural variability naturally predicts improved behavioral accuracy, linking the neural dynamics directly to performance.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Transition</a:t>
            </a:r>
            <a:r>
              <a:rPr lang="en"/>
              <a:t> - Putting these neural signatures together gives a coherent picture of how internal structure shapes activity during mental navigation.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b4582bf9b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b4582bf9b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(bullet 1) </a:t>
            </a:r>
            <a:r>
              <a:rPr lang="en"/>
              <a:t>Taken together, the experimental results point to a structured internal representation underlying mental navigation.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(bullet 2) Neural activity in the entorhinal cortex shows both periodic and ramping dynamics, indicating multiple complementary signals during navigation.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(bullet 3) Crucially, the structure associated with internal landmarks is linked to a reduction in neural variability, suggesting a functional role in improving behavioral accuracy.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Transition</a:t>
            </a:r>
            <a:r>
              <a:rPr lang="en"/>
              <a:t> - The natural next question is what kind of circuit-level mechanism could give rise to all of these experimental observations.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b4582bf9b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b4582bf9b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b4582bf9b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b4582bf9b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(bullet 1) </a:t>
            </a:r>
            <a:r>
              <a:rPr lang="en"/>
              <a:t>The goal of the model is not to reproduce every detail of the data, but to explain the key phenomena at a mechanistic level.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(bullet 2) Specifically, the model needs to account for the observed neural dynamics, including periodic and ramping activity.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(bullet 3) It also needs to explain why variability is reduced near landmarks.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Finally, the model should link these neural dynamics to the animals’ behavioral performance, rather than treating behavior as an afterthought.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Transition</a:t>
            </a:r>
            <a:r>
              <a:rPr lang="en"/>
              <a:t> - A natural starting point for this kind of problem is a continuous attractor network, which is well suited for representing and updating an internal state over time.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b4582bf9b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b4582bf9b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(intro) </a:t>
            </a:r>
            <a:r>
              <a:rPr lang="en"/>
              <a:t>Continuous attractor networks provide a natural way to represent a continuously varying internal state.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(bullet 1) Their activity lives on a low-dimensional manifold, typically expressed as a localized bump of activity.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(bullet 2) The position of this bump represents the current state of the system, and velocity inputs move the bump smoothly along the manifold.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(bullet 3) Because of this, continuous attractors are well suited for path integration problems like the one in this task.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Transition</a:t>
            </a:r>
            <a:r>
              <a:rPr lang="en"/>
              <a:t> - To make that idea concrete, the model implements a continuous attractor using a specific recurrent network architecture.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b4582bf9b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b4582bf9b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(bullet 1) </a:t>
            </a:r>
            <a:r>
              <a:rPr lang="en"/>
              <a:t>In this model, the continuous attractor is implemented as a one-dimensional ring of neurons.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(bullet 2) Recurrent connectivity has a Mexican-hat structure, with local excitation and broader inhibition, which stabilizes a single localized bump of activity.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(bullet 2) The network is split into left- and right-biased populations, and velocity input asymmetrically biases these populations.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asymmetry causes the activity bump to move around the ring in proportion to the velocity signal, implementing path integration.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Transition</a:t>
            </a:r>
            <a:r>
              <a:rPr lang="en"/>
              <a:t> - Given this architecture, we can now describe how the network’s internal state is represented and evolves over time.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b4582bf9b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b4582bf9b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this framework, the state of the network is summarized by the phase of the activity bump around the ring.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 the monkey moves, this phase advances, so the bump phase directly tracks the distance traveled.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When noise is present in the velocity input, it causes the bump phase to diffuse over time, which provides a natural source of timing and distance error.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Transition</a:t>
            </a:r>
            <a:r>
              <a:rPr lang="en"/>
              <a:t> - To see what this representation implies for behavior, we can first look at how the network behaves in the absence of any landmark structure.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b4582bf9b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b4582bf9b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we run the continuous attractor network without any landmark input, the behavior is very simple.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bump phase still tracks elapsed distance through velocity integration, but it does so continuously and uninterrupted.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Because noise is present in the velocity input, the bump phase diffuses over time, and errors accumulate steadily.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 a result, variability in the represented distance grows monotonically with time or distance traveled.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Transition</a:t>
            </a:r>
            <a:r>
              <a:rPr lang="en"/>
              <a:t> - To reduce this accumulated error, the model introduces an additional source of structure in the form of landmark neurons.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b4582bf9b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b4582bf9b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introduce structure into the model, the authors add landmark neurons that are selective for specific phases of the attractor.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During the learning phase of the task, these neurons are driven externally by visual landmarks.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After learning, when landmarks are no longer visible, the same neurons are driven internally by the attractor network itself, allowing the system to recall landmark locations endogenously.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Transition</a:t>
            </a:r>
            <a:r>
              <a:rPr lang="en"/>
              <a:t> - The next step is to understand how this landmark structure is actually learned by the network.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b4582bf9b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ab4582bf9b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connections between the attractor network and the landmark neurons are learned using a simple Hebbian rule, specifically Oja’s rule.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During learning, inputs from attractor neurons whose phases align with the external landmark are selectively strengthened.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 a result, the network learns to reproduce the landmark signal internally, so external landmarks during training become internal landmarks during mental navigation.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b4582bf9b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ab4582bf9b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Transition</a:t>
            </a:r>
            <a:r>
              <a:rPr lang="en">
                <a:solidFill>
                  <a:schemeClr val="dk1"/>
                </a:solidFill>
              </a:rPr>
              <a:t> - Once this landmark structure has been learned, the key question is how it changes the dynamics of the attractor during navigation.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b4582bf9b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ab4582bf9b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Once internal landmarks are learned, they start to influence the dynamics of the attractor.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When the bump approaches a landmark phase, landmark input locally stabilizes the activity pattern.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stabilization causes the bump’s motion to slow down near landmarks, making it less sensitive to noise.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result is a reset-like dynamic, where accumulated error is partially corrected at each landmark rather than continuously accumulating.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Transition</a:t>
            </a:r>
            <a:r>
              <a:rPr lang="en"/>
              <a:t> - This difference in dynamics shows up most clearly when we look at how variability scales with distance.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b4582bf9b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ab4582bf9b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can now look at how these dynamics affect error accumulation.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the absence of landmarks, error grows linearly with distance, because noise is integrated continuously over time.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When internal landmarks are present, error grows sublinearly, since the reset-like dynamics periodically reduce accumulated error.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sublinear growth of error closely matches what is observed in the monkeys’ behavior, providing a direct link between the model dynamics and performance.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b4582bf9b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ab4582bf9b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Transition</a:t>
            </a:r>
            <a:r>
              <a:rPr lang="en"/>
              <a:t> - Looking more closely at this variability reveals that it is not just reduced overall, but structured in time.</a:t>
            </a:r>
            <a:endParaRPr b="1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b4582bf9b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ab4582bf9b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striking prediction of the model is that variability should not just be reduced on average, but should fluctuate periodically over time.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Specifically, variability oscillates with a period that matches the spacing between landmarks.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periodic modulation arises from the reset-like dynamics introduced by internal landmarks.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Importantly, the same periodic structure in variability is observed in the neural data, providing a strong link between the model’s predictions and the recorded activity in entorhinal cortex.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Transition</a:t>
            </a:r>
            <a:r>
              <a:rPr lang="en"/>
              <a:t> - The final step is to ask whether these neural and model-based effects actually explain the monkeys’ behavior.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b4582bf9b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ab4582bf9b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connect the model more directly to behavior, the authors fit Bayesian observer models to the monkeys’ performance.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These models differ in whether they assume continuous error accumulation or periodic resets associated with internal landmarks.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landmark-reset model provides a significantly better fit to the behavioral data.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shows that the reset-like dynamics in the neural model offer a concrete, mechanistic explanation for how the monkeys achieve their level of performance.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Transition</a:t>
            </a:r>
            <a:r>
              <a:rPr lang="en"/>
              <a:t> - Taken together, this allows us to ask what aspects of the experimental data the model can explain in a unified way.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b4582bf9b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ab4582bf9b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Stepping back, the model provides a unified explanation for several key experimental findings.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 accounts for the periodic neural activity associated with internal landmarks.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 also explains the ramping signals that encode distance during navigation.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importantly, it explains why behavioral variability is reduced when landmark structure is available, linking neural dynamics directly to performance.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Transition</a:t>
            </a:r>
            <a:r>
              <a:rPr lang="en"/>
              <a:t> - With that mechanistic picture in place, it’s worth stepping back to consider what this might imply beyond this specific task.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b4582bf9b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ab4582bf9b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Although this work focuses on a navigation task, the underlying mechanism is likely more general.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Tasks like mental counting or rehearsal also involve moving through structured internal states without sensory input.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More broadly, this suggests that continuous attractor dynamics combined with internal landmarks may provide a general principle for structured computation in the brain, beyond physical space.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Transition</a:t>
            </a:r>
            <a:r>
              <a:rPr lang="en"/>
              <a:t> - To wrap up, I’ll summarize the main ideas and takeaways from the work.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b4582bf9b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ab4582bf9b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key takeaway from this work is that memory is not just a static store of information, but actively shapes neural dynamics during computation.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By imposing structure on those dynamics, internal landmarks reduce uncertainty and improve performance.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this sense, cognitive maps should be thought of not just as representations, but as computational tools that the brain uses to perform reliable internal operations.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Mental Navigation in the Primate Entorhinal Cortex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Shervin Jahanbakhsh &amp; Sean Conlon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Part 1 - Experimental Background</a:t>
            </a:r>
            <a:endParaRPr sz="4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Core Questions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368600"/>
            <a:ext cx="8520600" cy="30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does the brian navigate without sensory input?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is distance computed internally?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does structure reduce </a:t>
            </a:r>
            <a:r>
              <a:rPr lang="en"/>
              <a:t>behavioral</a:t>
            </a:r>
            <a:r>
              <a:rPr lang="en"/>
              <a:t> error?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Cognitive Maps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internal representation of relationships between states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Encodes </a:t>
            </a:r>
            <a:r>
              <a:rPr b="1" lang="en"/>
              <a:t>structure</a:t>
            </a:r>
            <a:r>
              <a:rPr lang="en"/>
              <a:t>, not just stimulus-response pairs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Supports inference about novel situations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the Entorhinal Cortex?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Known for grid cells and path integration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Encodes spatial and abstract variables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Candidate substrate for cognitive maps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 Setup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 monkey is seated in front of a screen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Given a joystick to </a:t>
            </a:r>
            <a:r>
              <a:rPr lang="en"/>
              <a:t>control</a:t>
            </a:r>
            <a:r>
              <a:rPr lang="en"/>
              <a:t> the movement of a dot along a line segment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Visual landmarks are displayed on the screen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Joystick speed is fixed, so distance is encoded by movement time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Objective</a:t>
            </a:r>
            <a:r>
              <a:rPr lang="en"/>
              <a:t> - From a </a:t>
            </a:r>
            <a:r>
              <a:rPr i="1" lang="en"/>
              <a:t>starting landmark</a:t>
            </a:r>
            <a:r>
              <a:rPr lang="en"/>
              <a:t>, use the joystick to navigate to a </a:t>
            </a:r>
            <a:r>
              <a:rPr i="1" lang="en"/>
              <a:t>target landmark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vs Mental Navigation</a:t>
            </a:r>
            <a:endParaRPr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Learning Phase</a:t>
            </a:r>
            <a:r>
              <a:rPr lang="en"/>
              <a:t> - Landmarks are visible during movement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monkey learns landmark spacing and joystick dynamics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Mental Navigation (MNAV)  Phase</a:t>
            </a:r>
            <a:r>
              <a:rPr lang="en"/>
              <a:t> - Landmarks are not visible during movement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monkey must navigate without visual feedback.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Behavioral Performance</a:t>
            </a:r>
            <a:endParaRPr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Accurate production of distances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Linear relationship: produced vs actual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 performance across sessions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Generalization</a:t>
            </a:r>
            <a:endParaRPr/>
          </a:p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Only half of the landmark pairs are trained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remaining pairs are held out during training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monkeys immediately generalize to new pairs during MNAV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Recordings</a:t>
            </a:r>
            <a:endParaRPr/>
          </a:p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Single-unit recordings in the entorhinal cortex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Analysis focused on the navigation epoch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</a:t>
            </a:r>
            <a:r>
              <a:rPr lang="en"/>
              <a:t>visual</a:t>
            </a:r>
            <a:r>
              <a:rPr lang="en"/>
              <a:t> input during this period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Signature 1 - Periodicity</a:t>
            </a:r>
            <a:endParaRPr/>
          </a:p>
        </p:txBody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Transient firing </a:t>
            </a:r>
            <a:r>
              <a:rPr i="1" lang="en"/>
              <a:t>bumps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Period matches landmark spacing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Generated without sensory cues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Signature 2 - Ramping</a:t>
            </a:r>
            <a:endParaRPr/>
          </a:p>
        </p:txBody>
      </p:sp>
      <p:sp>
        <p:nvSpPr>
          <p:cNvPr id="120" name="Google Shape;12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Firing rate ramps with distance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Strong encoding near joystick offset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Distinct from classical timing ramps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Signature 3 - Variability</a:t>
            </a:r>
            <a:endParaRPr/>
          </a:p>
        </p:txBody>
      </p:sp>
      <p:sp>
        <p:nvSpPr>
          <p:cNvPr id="126" name="Google Shape;12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Trial-to-trial variability is not uniform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Variability is reduced near landmarks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predicts improved behavioral accuracy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 Summary</a:t>
            </a:r>
            <a:endParaRPr/>
          </a:p>
        </p:txBody>
      </p:sp>
      <p:sp>
        <p:nvSpPr>
          <p:cNvPr id="132" name="Google Shape;13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Internal representation is structured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Neural activity with periodic and ramping dynamics coexist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Landmark structure reduces variability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Part 2 - Computational Model</a:t>
            </a:r>
            <a:endParaRPr sz="4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Goal</a:t>
            </a:r>
            <a:endParaRPr/>
          </a:p>
        </p:txBody>
      </p:sp>
      <p:sp>
        <p:nvSpPr>
          <p:cNvPr id="143" name="Google Shape;143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Explain neural dynamics mechanistically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Account for reduced variability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Link neural activity to behavior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Attractor Networks (CANs)</a:t>
            </a:r>
            <a:endParaRPr/>
          </a:p>
        </p:txBody>
      </p:sp>
      <p:sp>
        <p:nvSpPr>
          <p:cNvPr id="149" name="Google Shape;14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Stable low-dimensional manifold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activity bump represents the state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velocity input moves the bump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Architecture</a:t>
            </a:r>
            <a:endParaRPr/>
          </a:p>
        </p:txBody>
      </p:sp>
      <p:sp>
        <p:nvSpPr>
          <p:cNvPr id="155" name="Google Shape;15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1D ring topology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“Mexican-hat” recurrent connectivity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Left / right populations biased by velocity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Representation</a:t>
            </a:r>
            <a:endParaRPr/>
          </a:p>
        </p:txBody>
      </p:sp>
      <p:sp>
        <p:nvSpPr>
          <p:cNvPr id="161" name="Google Shape;16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Network state = bump phase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Phase tracks elapsed distance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Noise causes phase diffusion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Without Landmarks</a:t>
            </a:r>
            <a:endParaRPr/>
          </a:p>
        </p:txBody>
      </p:sp>
      <p:sp>
        <p:nvSpPr>
          <p:cNvPr id="167" name="Google Shape;16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Smooth bump drift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Noise accumulates continuously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Variability grows linearly with distance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Landmark Neurons</a:t>
            </a:r>
            <a:endParaRPr/>
          </a:p>
        </p:txBody>
      </p:sp>
      <p:sp>
        <p:nvSpPr>
          <p:cNvPr id="173" name="Google Shape;173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Neurons that fire at specific phases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Driven externally during learning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Driven internally during recall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the Landmark Structure</a:t>
            </a:r>
            <a:endParaRPr/>
          </a:p>
        </p:txBody>
      </p:sp>
      <p:sp>
        <p:nvSpPr>
          <p:cNvPr id="179" name="Google Shape;179;p34"/>
          <p:cNvSpPr txBox="1"/>
          <p:nvPr>
            <p:ph idx="1" type="body"/>
          </p:nvPr>
        </p:nvSpPr>
        <p:spPr>
          <a:xfrm>
            <a:off x="311700" y="1152475"/>
            <a:ext cx="8155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Hebbian / Oja learning rule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Strengthen phased-matched inputs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External landmarks → Internal landmarks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5" title="fig4_landmark_weigh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66850"/>
            <a:ext cx="8839204" cy="220980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Landmark Neuron - CAN Synaptic Weights</a:t>
            </a:r>
            <a:endParaRPr/>
          </a:p>
        </p:txBody>
      </p:sp>
      <p:sp>
        <p:nvSpPr>
          <p:cNvPr id="186" name="Google Shape;186;p35"/>
          <p:cNvSpPr txBox="1"/>
          <p:nvPr/>
        </p:nvSpPr>
        <p:spPr>
          <a:xfrm>
            <a:off x="496300" y="4346400"/>
            <a:ext cx="62265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Reproduction of </a:t>
            </a:r>
            <a:r>
              <a:rPr i="1" lang="en" sz="1800">
                <a:solidFill>
                  <a:schemeClr val="dk2"/>
                </a:solidFill>
              </a:rPr>
              <a:t>Fig. 4b </a:t>
            </a:r>
            <a:r>
              <a:rPr lang="en" sz="1800">
                <a:solidFill>
                  <a:schemeClr val="dk2"/>
                </a:solidFill>
              </a:rPr>
              <a:t>in the paper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With Internal Landmarks</a:t>
            </a:r>
            <a:endParaRPr/>
          </a:p>
        </p:txBody>
      </p:sp>
      <p:sp>
        <p:nvSpPr>
          <p:cNvPr id="192" name="Google Shape;192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Landmark input stabilizes the bump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bump’s motion slows near landmarks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Produces reset-like dynamics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Variability Scaling</a:t>
            </a:r>
            <a:endParaRPr/>
          </a:p>
        </p:txBody>
      </p:sp>
      <p:sp>
        <p:nvSpPr>
          <p:cNvPr id="198" name="Google Shape;198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landmarks - Error grows linearly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 landmarks - Error grows sublinearly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 landmarks behavior matches the monkey’s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Variation in Duration as a function of Input Noise</a:t>
            </a:r>
            <a:endParaRPr/>
          </a:p>
        </p:txBody>
      </p:sp>
      <p:pic>
        <p:nvPicPr>
          <p:cNvPr id="204" name="Google Shape;204;p38" title="variabillit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0675" y="1017725"/>
            <a:ext cx="5731464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8"/>
          <p:cNvSpPr txBox="1"/>
          <p:nvPr/>
        </p:nvSpPr>
        <p:spPr>
          <a:xfrm>
            <a:off x="0" y="4707300"/>
            <a:ext cx="62265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Reproduction of </a:t>
            </a:r>
            <a:r>
              <a:rPr i="1" lang="en" sz="1800">
                <a:solidFill>
                  <a:schemeClr val="dk2"/>
                </a:solidFill>
              </a:rPr>
              <a:t>Fig. 4d </a:t>
            </a:r>
            <a:r>
              <a:rPr lang="en" sz="1800">
                <a:solidFill>
                  <a:schemeClr val="dk2"/>
                </a:solidFill>
              </a:rPr>
              <a:t>in the paper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Periodic Variability</a:t>
            </a:r>
            <a:endParaRPr/>
          </a:p>
        </p:txBody>
      </p:sp>
      <p:sp>
        <p:nvSpPr>
          <p:cNvPr id="211" name="Google Shape;211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Variability oscillates in time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Period of the oscillations equals the landmark spacing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predicted by the model and seen in neurons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Linking the Model to Behavior</a:t>
            </a:r>
            <a:endParaRPr/>
          </a:p>
        </p:txBody>
      </p:sp>
      <p:sp>
        <p:nvSpPr>
          <p:cNvPr id="217" name="Google Shape;217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Bayesian observer models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Landmark-reset model fits better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Mechanistic explanation of performance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the Model Explains</a:t>
            </a:r>
            <a:endParaRPr/>
          </a:p>
        </p:txBody>
      </p:sp>
      <p:sp>
        <p:nvSpPr>
          <p:cNvPr id="223" name="Google Shape;223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Periodic neural activity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Ramping distance signals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Reduced behavioral variability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Broader Implications</a:t>
            </a:r>
            <a:endParaRPr/>
          </a:p>
        </p:txBody>
      </p:sp>
      <p:sp>
        <p:nvSpPr>
          <p:cNvPr id="229" name="Google Shape;229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Mental counting and </a:t>
            </a:r>
            <a:r>
              <a:rPr lang="en"/>
              <a:t>rehearsal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Abstract cognitive navigation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 principle for structured computation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235" name="Google Shape;235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Memory actively shapes dynamics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Structure reduces uncertainty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Cognitive </a:t>
            </a:r>
            <a:r>
              <a:rPr lang="en"/>
              <a:t>maps</a:t>
            </a:r>
            <a:r>
              <a:rPr lang="en"/>
              <a:t> are computational tools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